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17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A099-2C61-BA93-CEE9-185193B9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ADBCB-8A10-D8C3-89C6-CB7E34BA0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CF33D-5C0D-8859-B466-9A556111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A9EF2-8583-0BB3-6BBE-8B06C76B5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563F-ED9D-9FA0-92AA-09DE9FFD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005DA-5BC1-4325-25DD-1EE286830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16499-7AB1-2CD9-6ECC-63C8C7E7E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87DBC-42B8-1D7B-BE77-DC69C226E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77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1275-77E2-B9AC-EA93-5CFDF927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F5376-31A3-81D4-ACBC-48A236173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608E1-78B7-9A54-D0E0-3802C6107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0F271-E44C-D0E2-E01D-1C38CE5C3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6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E072-7A3F-764B-91DE-AF7FB5DB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0C3AA-2D28-6971-C874-E000265FE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CCF48-07C5-0C51-75CA-5BF049719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73E1D-302E-1BAD-24D2-493B9239EF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52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B415-188F-2B0C-C6CD-BFCB3526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9FDE9-71EC-F5E5-9A90-1FB5DF536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6396D-702D-343A-7B72-57A98983E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3304D-32F9-8735-90BF-2B39E3164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73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F0C24-1035-B123-327B-5F398A36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8C3A1-1843-0B37-A4CE-471287172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64DAD-C7A1-B792-2959-89AFA7EE7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9C6F-F794-0B24-B3B5-CB038BDA8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86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F693-68E4-5CD4-6867-C315817B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204B9-D5BC-AE67-2E12-C981DF76C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3709D-0D4D-4AA8-E213-0EA6A785F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B8EA4-CCC1-2EBD-91C4-AA62E39D9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2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B6B3-38BF-7753-F0E6-6818001A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7A702-3781-B1E0-8AD6-C509C5EE5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44F5C-49E0-91BC-F76E-04F3615D4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8AD71-609D-601F-E055-5D330D878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78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9BB2-4594-02F5-5405-771C6100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412D8-677E-E883-D62A-7B5249EC0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C172A-F6AC-E231-7B31-4A381F35D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8062E-8A03-C0B7-72DA-EF584620E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8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1B2C-4C94-5717-8132-FB36E024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5CC72-2459-06D4-6503-DC1F81C19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A59ED-526B-51C5-092D-64577B4FF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33C37-4F80-F1D1-832B-5340D4A65A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31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EE855-E8D5-4F26-F8DE-417549D7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C7DF4-6EA8-F34C-FFDD-DEA2B1D00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7A8E3-0641-A7B2-ADF8-D7A5CC7F0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BB0F3-EEF0-A74D-6CB7-148C4CE3E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11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0EF8-145B-5DAC-EE50-9C01D1A6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6D266-D06C-B443-9AB6-B9C5360B1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E3463-06BF-E3BE-ECA5-BC3278300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A6A57-0A47-6C46-6988-DE1E005AC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78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CBB5C-2A67-9C28-2BEA-418F2FA7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8F4CB-A19D-FD2E-E114-7E41F617B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8261B-5BF6-9F17-9E89-66F5CBAA6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F01F5-CECB-27CF-826A-D5D4A9160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2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DADE5-5E6A-725B-6092-A2B29A8F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D88922-75E9-AE45-B28C-75A6618D87FB}"/>
              </a:ext>
            </a:extLst>
          </p:cNvPr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Diabetic Retinopathy (DR)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1A32B5-BBEB-EF92-5864-35667FF569FC}"/>
              </a:ext>
            </a:extLst>
          </p:cNvPr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Symptoms, Causes, Risks, Treatment and 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51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684AD-AD4A-EFCE-BBCD-BF8B6C5B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8F93C4-D906-2DE6-0A72-E8DF69000EFE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4ECC3A-AC0F-72C9-D05F-74E7685340A0}"/>
              </a:ext>
            </a:extLst>
          </p:cNvPr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Causes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Risk Factors and Complications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Grade-wise Symptoms , Treatment and Sample Images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9F792-5CCC-1C67-3EF4-0553160A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AC4D21-6848-4AB1-F710-B08E4A0B4928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3847A-2F20-26FF-AB56-742E184C45AA}"/>
              </a:ext>
            </a:extLst>
          </p:cNvPr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 retinopathy is a complication of diabetes that damages the blood vessels in the retina, the light-sensitive tissue at the back of the eye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can</a:t>
            </a: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 in anyone with type 1 or type 2 diabetes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increases the longer a person has diabetes and when blood sugar is poorly managed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stages may cause no symptoms, but it can lead to blindness if untreated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forms: nonproliferative (NPDR) and proliferative (PDR)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0389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F2F2F-3164-3291-CBF5-026C8E42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D862A-2AD2-D1D1-952E-EE3E5637FA84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Causes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0BCE80-6EDC-12B0-DF52-2B916DD10E56}"/>
              </a:ext>
            </a:extLst>
          </p:cNvPr>
          <p:cNvSpPr txBox="1"/>
          <p:nvPr/>
        </p:nvSpPr>
        <p:spPr>
          <a:xfrm>
            <a:off x="640080" y="128016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Prolonged high blood sugar damages the tiny blood vessels that nourish the retina and cuts off its blood supply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NPDR: vessel walls weaken and form small bulges that leak fluid and blood; no new vessels grow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Macular edema: fluid build-up in the center of the retina (macula), possible at any stage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PDR: closed-off vessels trigger growth of abnormal new vessels that leak or bleed easily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fig.png">
            <a:extLst>
              <a:ext uri="{FF2B5EF4-FFF2-40B4-BE49-F238E27FC236}">
                <a16:creationId xmlns:a16="http://schemas.microsoft.com/office/drawing/2014/main" id="{F9F8AE61-EB3E-90EC-3C13-EE68D67F0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2331720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6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09B67-6312-DC16-BE73-DD796B60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A6FD25-47B7-6CB5-25D8-34D43F4DC875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Risk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Factors and Complications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9B581E-EEA7-EA02-E5F1-FCBCB048562D}"/>
              </a:ext>
            </a:extLst>
          </p:cNvPr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factors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979DD7-E06A-BBD1-116F-CD946B8078EF}"/>
              </a:ext>
            </a:extLst>
          </p:cNvPr>
          <p:cNvSpPr txBox="1"/>
          <p:nvPr/>
        </p:nvSpPr>
        <p:spPr>
          <a:xfrm>
            <a:off x="640080" y="16916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Long duration of diabetes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Poorly managed blood sugar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 blood pressure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 cholesterol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Pregnancy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Tobacco 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Black, Latino or Native American ethnicity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B20E1F-9736-9CB7-6DFE-DB587B0C3287}"/>
              </a:ext>
            </a:extLst>
          </p:cNvPr>
          <p:cNvSpPr txBox="1"/>
          <p:nvPr/>
        </p:nvSpPr>
        <p:spPr>
          <a:xfrm>
            <a:off x="47548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BF1626-DE02-695A-0C26-55186FF00896}"/>
              </a:ext>
            </a:extLst>
          </p:cNvPr>
          <p:cNvSpPr txBox="1"/>
          <p:nvPr/>
        </p:nvSpPr>
        <p:spPr>
          <a:xfrm>
            <a:off x="4754880" y="16916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Vitreous hemorrhage: bleeding into the eye, causing floaters or blocked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Retinal detachment: scar tissue pulls the retina away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Glaucoma: new vessels block fluid outflow and raise eye pressure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Macular edema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Blindness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05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C9D57-CB66-8718-6469-9E873482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BDFCA3-7B45-4E7A-942B-82D56858FFD2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DR Grading Used in the Datasets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F4E388E-7CA0-5C5A-58B8-7BADEF5A6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237505"/>
              </p:ext>
            </p:extLst>
          </p:nvPr>
        </p:nvGraphicFramePr>
        <p:xfrm>
          <a:off x="640080" y="1280160"/>
          <a:ext cx="786384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Grade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Class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Messidor-1 label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No DR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No DR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Mild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Mild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Moderate + Severe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Severe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Proliferative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Proliferative DR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-  (not present)</a:t>
                      </a:r>
                      <a:endParaRPr lang="en-US" sz="16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565DD5AE-48A0-CE46-49B3-8D22BEF820B0}"/>
              </a:ext>
            </a:extLst>
          </p:cNvPr>
          <p:cNvSpPr txBox="1"/>
          <p:nvPr/>
        </p:nvSpPr>
        <p:spPr>
          <a:xfrm>
            <a:off x="555239" y="4479853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406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A86AA-9076-2EC7-6308-E3667E63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048E65-F75D-D042-31A3-9963182AF504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 0: No DR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E10AB2-07EF-E732-1B36-40B011BF2609}"/>
              </a:ext>
            </a:extLst>
          </p:cNvPr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14D870-2CE2-54B0-4BDC-BB2A53E5E2E0}"/>
              </a:ext>
            </a:extLst>
          </p:cNvPr>
          <p:cNvSpPr txBox="1"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symptoms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Vision is normal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visible retinal changes on examination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47E385-9353-4F16-0728-A8160EE3997B}"/>
              </a:ext>
            </a:extLst>
          </p:cNvPr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CBC673-F826-C6C4-2CF0-7D307A3331AE}"/>
              </a:ext>
            </a:extLst>
          </p:cNvPr>
          <p:cNvSpPr txBox="1"/>
          <p:nvPr/>
        </p:nvSpPr>
        <p:spPr>
          <a:xfrm>
            <a:off x="4754880" y="1645920"/>
            <a:ext cx="3749040" cy="117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eye treatment needed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Dilated eye exam every 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Keep blood sugar, blood pressure and cholesterol in target range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B2F754-1495-6D2C-0753-E13DAD6CD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98" y="3080713"/>
            <a:ext cx="1728148" cy="17481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3F38AC-56BA-B410-3332-30395382D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092" y="3080713"/>
            <a:ext cx="1752706" cy="1684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847B1F-0907-B1D9-DF3F-754D9BA20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902" y="3090021"/>
            <a:ext cx="1611984" cy="1675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E8D16-CFA4-628B-067C-A75FD96BF76D}"/>
              </a:ext>
            </a:extLst>
          </p:cNvPr>
          <p:cNvSpPr txBox="1"/>
          <p:nvPr/>
        </p:nvSpPr>
        <p:spPr>
          <a:xfrm>
            <a:off x="2463792" y="4787167"/>
            <a:ext cx="17540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Sample images of Grade0</a:t>
            </a:r>
          </a:p>
        </p:txBody>
      </p:sp>
    </p:spTree>
    <p:extLst>
      <p:ext uri="{BB962C8B-B14F-4D97-AF65-F5344CB8AC3E}">
        <p14:creationId xmlns:p14="http://schemas.microsoft.com/office/powerpoint/2010/main" val="125736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86DC5-EE1C-CD49-9729-8572BD55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F558B0-4BE6-BBF1-D37E-FDF53ED264C2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 1: Mild DR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D8A4B4-981E-155E-D043-AC8B3D244119}"/>
              </a:ext>
            </a:extLst>
          </p:cNvPr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293D3D-4488-429A-B549-5419DFC40CA2}"/>
              </a:ext>
            </a:extLst>
          </p:cNvPr>
          <p:cNvSpPr txBox="1"/>
          <p:nvPr/>
        </p:nvSpPr>
        <p:spPr>
          <a:xfrm>
            <a:off x="579827" y="1554480"/>
            <a:ext cx="3749040" cy="1194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Usually no symptoms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Vision is usually normal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Found only on a dilated eye exam or retinal imaging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CD4D5D-4258-694C-4CD5-8F99D9662387}"/>
              </a:ext>
            </a:extLst>
          </p:cNvPr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72B01C-773E-B2A9-FDD9-613B9FC5917F}"/>
              </a:ext>
            </a:extLst>
          </p:cNvPr>
          <p:cNvSpPr txBox="1"/>
          <p:nvPr/>
        </p:nvSpPr>
        <p:spPr>
          <a:xfrm>
            <a:off x="4572000" y="1705817"/>
            <a:ext cx="3749040" cy="142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eye treatment in most cases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Follow-up eye exam every 6 to 12 months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Strict control of blood sugar, blood pressure and cholesterol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76C2BA-0ACF-CE75-F25D-C3E133AD7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3206387"/>
            <a:ext cx="1754329" cy="15713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69E4B8-B651-C67D-C944-8D818EEAE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379" y="3206387"/>
            <a:ext cx="1718741" cy="15718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E90D28-B710-A43E-30A8-67D27B0A9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739" y="3191852"/>
            <a:ext cx="1470988" cy="1600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673BC5-4316-BEEE-B36E-8809A240D7EC}"/>
              </a:ext>
            </a:extLst>
          </p:cNvPr>
          <p:cNvSpPr txBox="1"/>
          <p:nvPr/>
        </p:nvSpPr>
        <p:spPr>
          <a:xfrm>
            <a:off x="3619893" y="4996206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4C174-FDC5-6BCF-7F42-18C630971141}"/>
              </a:ext>
            </a:extLst>
          </p:cNvPr>
          <p:cNvSpPr txBox="1"/>
          <p:nvPr/>
        </p:nvSpPr>
        <p:spPr>
          <a:xfrm>
            <a:off x="2760523" y="4792275"/>
            <a:ext cx="17187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Sample mages of Grade1</a:t>
            </a:r>
          </a:p>
        </p:txBody>
      </p:sp>
    </p:spTree>
    <p:extLst>
      <p:ext uri="{BB962C8B-B14F-4D97-AF65-F5344CB8AC3E}">
        <p14:creationId xmlns:p14="http://schemas.microsoft.com/office/powerpoint/2010/main" val="25441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C1BC3-4B60-B132-B326-57D6CBA9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364180-726F-3F63-DC81-331FD956CD5D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 2: Moderate DR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C693E1-E173-0FFC-DFD4-796F5F6E8D96}"/>
              </a:ext>
            </a:extLst>
          </p:cNvPr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502EFC-23D9-2878-C18A-864C174F9145}"/>
              </a:ext>
            </a:extLst>
          </p:cNvPr>
          <p:cNvSpPr txBox="1"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Often none or mild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Slightly blurred vision or a few floaters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Blurred central vision if macular edema is present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92F46A-5301-34DC-9C1C-AD8FDADA8AA2}"/>
              </a:ext>
            </a:extLst>
          </p:cNvPr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662EA7-799C-E547-FDD2-046A395B7D78}"/>
              </a:ext>
            </a:extLst>
          </p:cNvPr>
          <p:cNvSpPr txBox="1"/>
          <p:nvPr/>
        </p:nvSpPr>
        <p:spPr>
          <a:xfrm>
            <a:off x="4754880" y="1645920"/>
            <a:ext cx="3749040" cy="153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Follow-up eye exam every 3 to 6 months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Anti-VEGF injections or focal laser if macular edema affects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Systemic control of sugar, pressure and cholesterol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246B96-398C-337F-33C8-B71220009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84" y="3311329"/>
            <a:ext cx="1727383" cy="1533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764EB5-6D39-06E0-B62C-9C756C36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311329"/>
            <a:ext cx="1727383" cy="1533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CCEF4C-8C50-25F8-0DE5-717A45967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016" y="3311329"/>
            <a:ext cx="1727383" cy="1533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B7A9D9-D9F8-FBE0-B6AC-7C86AEDBD10B}"/>
              </a:ext>
            </a:extLst>
          </p:cNvPr>
          <p:cNvSpPr txBox="1"/>
          <p:nvPr/>
        </p:nvSpPr>
        <p:spPr>
          <a:xfrm>
            <a:off x="2139885" y="4845068"/>
            <a:ext cx="2307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Sample mages of Grade2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1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69790-C350-687A-4A41-EB20571C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A762A4-2FFA-0E6E-4455-50CFBDFB9DD9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 3: Severe DR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A0F2A-5789-3570-E3AC-67E4474B6CA9}"/>
              </a:ext>
            </a:extLst>
          </p:cNvPr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F4A1CF-6A47-20FC-66F8-30CEF8AF30CF}"/>
              </a:ext>
            </a:extLst>
          </p:cNvPr>
          <p:cNvSpPr txBox="1"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Blurred or fluctuating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Floaters and dark spots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Dark or empty areas in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Poor night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AB6AD0-8667-3A70-99F7-46C63875D117}"/>
              </a:ext>
            </a:extLst>
          </p:cNvPr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67C1C-47A1-AD79-4307-37B75C314AF0}"/>
              </a:ext>
            </a:extLst>
          </p:cNvPr>
          <p:cNvSpPr txBox="1"/>
          <p:nvPr/>
        </p:nvSpPr>
        <p:spPr>
          <a:xfrm>
            <a:off x="4754879" y="1645920"/>
            <a:ext cx="4002621" cy="1486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Close follow-up every 2 to 4 months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Panretinal (scatter) laser or anti-VEGF may be considered to prevent progression to PDR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 macular edema if present, Systemic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739793-F36C-1970-F31A-2C1AB5A39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1956" y="3291632"/>
            <a:ext cx="1648690" cy="1486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AC9D74-0FA7-46F3-D0ED-4EB987850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886" y="3291633"/>
            <a:ext cx="1648690" cy="1486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A14904-730F-BAC4-8C0A-4ADF17A63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291631"/>
            <a:ext cx="1772239" cy="1486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4B11FA-C316-1F69-B5D7-74AF4EBB1C4E}"/>
              </a:ext>
            </a:extLst>
          </p:cNvPr>
          <p:cNvSpPr txBox="1"/>
          <p:nvPr/>
        </p:nvSpPr>
        <p:spPr>
          <a:xfrm flipH="1">
            <a:off x="2356700" y="4777740"/>
            <a:ext cx="177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Sample mages of Grade3</a:t>
            </a:r>
          </a:p>
          <a:p>
            <a:pPr algn="ctr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4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34148-FAFA-DD54-FBAE-A96F1A8E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42451C-C11F-6CA8-EF74-CECC566EFBC9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Grade 4: Proliferative DR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B42C9F-B396-9B84-2980-A39E4CDD2A20}"/>
              </a:ext>
            </a:extLst>
          </p:cNvPr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Symptoms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1DB91B-2E80-CF70-DF42-0523387E89F2}"/>
              </a:ext>
            </a:extLst>
          </p:cNvPr>
          <p:cNvSpPr txBox="1"/>
          <p:nvPr/>
        </p:nvSpPr>
        <p:spPr>
          <a:xfrm>
            <a:off x="640080" y="1645920"/>
            <a:ext cx="3749040" cy="1683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Sudden floaters or dark spots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Flashes of light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Missing areas of vision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Sudden or severe vision loss from bleeding or retinal detachment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4CE85F-1ADB-CCC3-6966-36D8C9AAD842}"/>
              </a:ext>
            </a:extLst>
          </p:cNvPr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1DA308-A07A-EA7F-BE93-1B3ED5B50977}"/>
              </a:ext>
            </a:extLst>
          </p:cNvPr>
          <p:cNvSpPr txBox="1"/>
          <p:nvPr/>
        </p:nvSpPr>
        <p:spPr>
          <a:xfrm>
            <a:off x="4754880" y="1645920"/>
            <a:ext cx="4181730" cy="200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Urgent specialist care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Panretinal laser and/or anti-VEGF injections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Vitrectomy for non-clearing vitreous hemorrhage or retinal detachment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Treat macular edema and glaucoma if present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4D5A36-4EEF-D4DC-2702-52350EF48FC6}"/>
              </a:ext>
            </a:extLst>
          </p:cNvPr>
          <p:cNvSpPr txBox="1"/>
          <p:nvPr/>
        </p:nvSpPr>
        <p:spPr>
          <a:xfrm>
            <a:off x="2017336" y="4771613"/>
            <a:ext cx="2111604" cy="12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/>
              <a:t>Fig: Sample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1200" dirty="0"/>
              <a:t> of Grade4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4BD444-0F6C-B363-B498-B59C68AEA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32" y="3384578"/>
            <a:ext cx="1537512" cy="1317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3BB8AD-5BC9-FD2A-F8A2-389CB403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327" y="3329031"/>
            <a:ext cx="1582613" cy="13176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D2A1B-085C-ED63-DD11-385520C38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329031"/>
            <a:ext cx="1427218" cy="131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6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51DD3-7693-F150-628F-723D175F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D891DC-2B2C-A54D-38AF-B56BC24B4A13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Prevention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F24F07-A57B-59D9-E67F-ED6873DA201D}"/>
              </a:ext>
            </a:extLst>
          </p:cNvPr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Manage diabetes: healthy eating, regular activity (at least 150 minutes of moderate aerobic activity weekly), medicines or insulin as directed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Monitor blood sugar and ask about the HbA1c test and your target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 blood pressure and cholesterol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Stop smoking and other tobacco use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Yearly dilated eye exam, even if vision seems fine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Report sudden vision changes immediately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7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C7D10-9B10-C2F1-F3A0-CD1849D5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1ED76A-7CBE-40DE-14C0-E400001271AB}"/>
              </a:ext>
            </a:extLst>
          </p:cNvPr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AFC344-2682-7D5C-1FEB-3424250A05F9}"/>
              </a:ext>
            </a:extLst>
          </p:cNvPr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DR is a common, often silent, sight-threatening complication of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diabetes.Early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detection through regular dilated eye exams is essential. Treatments (anti-VEGF, laser, surgery) can slow progression and preserve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visionGood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control of blood sugar, blood pressure and cholesterol is the best prevention.</a:t>
            </a:r>
          </a:p>
        </p:txBody>
      </p:sp>
    </p:spTree>
    <p:extLst>
      <p:ext uri="{BB962C8B-B14F-4D97-AF65-F5344CB8AC3E}">
        <p14:creationId xmlns:p14="http://schemas.microsoft.com/office/powerpoint/2010/main" val="52837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686</Words>
  <Application>Microsoft Office PowerPoint</Application>
  <PresentationFormat>On-screen Show (16:9)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 Paneru</cp:lastModifiedBy>
  <cp:revision>2</cp:revision>
  <dcterms:created xsi:type="dcterms:W3CDTF">2026-10-07T10:22:46Z</dcterms:created>
  <dcterms:modified xsi:type="dcterms:W3CDTF">2026-10-15T16:16:06Z</dcterms:modified>
</cp:coreProperties>
</file>